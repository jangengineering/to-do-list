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5854" r:id="rId2"/>
  </p:sldMasterIdLst>
  <p:notesMasterIdLst>
    <p:notesMasterId r:id="rId43"/>
  </p:notesMasterIdLst>
  <p:sldIdLst>
    <p:sldId id="256" r:id="rId3"/>
    <p:sldId id="257" r:id="rId4"/>
    <p:sldId id="258" r:id="rId5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282" r:id="rId29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291" r:id="rId38"/>
    <p:sldId id="313" r:id="rId65"/>
    <p:sldId id="314" r:id="rId66"/>
    <p:sldId id="315" r:id="rId67"/>
    <p:sldId id="295" r:id="rId42"/>
  </p:sldIdLst>
  <p:sldSz cx="12192000" cy="6858000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2" autoAdjust="0"/>
    <p:restoredTop sz="94660"/>
  </p:normalViewPr>
  <p:slideViewPr>
    <p:cSldViewPr>
      <p:cViewPr varScale="1">
        <p:scale>
          <a:sx n="104" d="100"/>
          <a:sy n="104" d="100"/>
        </p:scale>
        <p:origin x="714" y="114"/>
      </p:cViewPr>
      <p:guideLst>
        <p:guide orient="horz" pos="2158"/>
        <p:guide pos="383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4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38" Type="http://schemas.openxmlformats.org/officeDocument/2006/relationships/slide" Target="slides/slide36.xml"/><Relationship Id="rId46" Type="http://schemas.openxmlformats.org/officeDocument/2006/relationships/theme" Target="theme/theme1.xml"/>  <Relationship Id="rId48" Type="http://schemas.openxmlformats.org/officeDocument/2006/relationships/slide" Target="slides/slide41.xml"/>
  <Relationship Id="rId49" Type="http://schemas.openxmlformats.org/officeDocument/2006/relationships/slide" Target="slides/slide42.xml"/>
  <Relationship Id="rId50" Type="http://schemas.openxmlformats.org/officeDocument/2006/relationships/slide" Target="slides/slide43.xml"/>
  <Relationship Id="rId51" Type="http://schemas.openxmlformats.org/officeDocument/2006/relationships/slide" Target="slides/slide44.xml"/>
  <Relationship Id="rId52" Type="http://schemas.openxmlformats.org/officeDocument/2006/relationships/slide" Target="slides/slide45.xml"/>
  <Relationship Id="rId53" Type="http://schemas.openxmlformats.org/officeDocument/2006/relationships/slide" Target="slides/slide46.xml"/>
  <Relationship Id="rId54" Type="http://schemas.openxmlformats.org/officeDocument/2006/relationships/slide" Target="slides/slide47.xml"/>
  <Relationship Id="rId55" Type="http://schemas.openxmlformats.org/officeDocument/2006/relationships/slide" Target="slides/slide48.xml"/>
  <Relationship Id="rId56" Type="http://schemas.openxmlformats.org/officeDocument/2006/relationships/slide" Target="slides/slide49.xml"/>
  <Relationship Id="rId57" Type="http://schemas.openxmlformats.org/officeDocument/2006/relationships/slide" Target="slides/slide50.xml"/>
  <Relationship Id="rId58" Type="http://schemas.openxmlformats.org/officeDocument/2006/relationships/slide" Target="slides/slide51.xml"/>
  <Relationship Id="rId59" Type="http://schemas.openxmlformats.org/officeDocument/2006/relationships/slide" Target="slides/slide52.xml"/>
  <Relationship Id="rId60" Type="http://schemas.openxmlformats.org/officeDocument/2006/relationships/slide" Target="slides/slide53.xml"/>
  <Relationship Id="rId61" Type="http://schemas.openxmlformats.org/officeDocument/2006/relationships/slide" Target="slides/slide54.xml"/>
  <Relationship Id="rId62" Type="http://schemas.openxmlformats.org/officeDocument/2006/relationships/slide" Target="slides/slide55.xml"/>
  <Relationship Id="rId63" Type="http://schemas.openxmlformats.org/officeDocument/2006/relationships/slide" Target="slides/slide56.xml"/>
  <Relationship Id="rId64" Type="http://schemas.openxmlformats.org/officeDocument/2006/relationships/slide" Target="slides/slide57.xml"/>
  <Relationship Id="rId65" Type="http://schemas.openxmlformats.org/officeDocument/2006/relationships/slide" Target="slides/slide58.xml"/>
  <Relationship Id="rId66" Type="http://schemas.openxmlformats.org/officeDocument/2006/relationships/slide" Target="slides/slide59.xml"/>
  <Relationship Id="rId67" Type="http://schemas.openxmlformats.org/officeDocument/2006/relationships/slide" Target="slides/slide6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7D6D2A12-D40F-40BA-B701-6EAECF805A26}" type="datetime1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2E59FE3E-BA8F-4B57-9760-6F703D9CBC6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40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아띠"/>
        <a:ea typeface="a아띠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아띠"/>
        <a:ea typeface="a아띠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아띠"/>
        <a:ea typeface="a아띠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아띠"/>
        <a:ea typeface="a아띠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아띠"/>
        <a:ea typeface="a아띠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보너스 단어 11–18, 심화 단어 19–21 포함</a:t>
            </a:r>
          </a:p>
          <a:p>
            <a:r>
              <a:rPr lang="ko-KR"/>
              <a:t>이미지: 선생님이 제공한 10-1 New Words PPT의 교과서 그림.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보너스 단어 11–18, 심화 단어 19–21 포함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socks / 뜻: 양말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How much are these socks?</a:t>
            </a:r>
          </a:p>
          <a:p>
            <a:r>
              <a:rPr lang="ko-KR"/>
              <a:t>이 양말은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gloves / 뜻: 장갑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These gloves are warm.</a:t>
            </a:r>
          </a:p>
          <a:p>
            <a:r>
              <a:rPr lang="ko-KR"/>
              <a:t>이 장갑은 따뜻해요.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sunglasses / 뜻: 선글라스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How much are these sunglasses?</a:t>
            </a:r>
          </a:p>
          <a:p>
            <a:r>
              <a:rPr lang="ko-KR"/>
              <a:t>이 선글라스는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shoes / 뜻: 신발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I like these shoes.</a:t>
            </a:r>
          </a:p>
          <a:p>
            <a:r>
              <a:rPr lang="ko-KR"/>
              <a:t>나는 이 신발이 좋아요.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pants / 뜻: 바지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How much are these pants?</a:t>
            </a:r>
          </a:p>
          <a:p>
            <a:r>
              <a:rPr lang="ko-KR"/>
              <a:t>이 바지는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cap / 뜻: 모자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How much is this cap?</a:t>
            </a:r>
          </a:p>
          <a:p>
            <a:r>
              <a:rPr lang="ko-KR"/>
              <a:t>이 모자는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T-shirt / 뜻: 티셔츠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How much is this T-shirt?</a:t>
            </a:r>
          </a:p>
          <a:p>
            <a:r>
              <a:rPr lang="ko-KR"/>
              <a:t>이 티셔츠는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size / 뜻: 크기, 치수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What size do you want?</a:t>
            </a:r>
          </a:p>
          <a:p>
            <a:r>
              <a:rPr lang="ko-KR"/>
              <a:t>어떤 치수를 원하세요?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large / 뜻: 큰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Do you have a large size?</a:t>
            </a:r>
          </a:p>
          <a:p>
            <a:r>
              <a:rPr lang="ko-KR"/>
              <a:t>큰 치수가 있나요?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won / 뜻: 원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It’s 5,000 won.</a:t>
            </a:r>
          </a:p>
          <a:p>
            <a:r>
              <a:rPr lang="ko-KR"/>
              <a:t>5,000원이에요.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cheap / 뜻: 값이 싼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This cap is cheap.</a:t>
            </a:r>
          </a:p>
          <a:p>
            <a:r>
              <a:rPr lang="ko-KR"/>
              <a:t>이 모자는 값이 싸요.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expensive / 뜻: 비싼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These shoes are expensive.</a:t>
            </a:r>
          </a:p>
          <a:p>
            <a:r>
              <a:rPr lang="ko-KR"/>
              <a:t>이 신발은 비싸요.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price / 뜻: 가격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What is the price?</a:t>
            </a:r>
          </a:p>
          <a:p>
            <a:r>
              <a:rPr lang="ko-KR"/>
              <a:t>가격이 얼마예요?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buy / 뜻: 사다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I want to buy these socks.</a:t>
            </a:r>
          </a:p>
          <a:p>
            <a:r>
              <a:rPr lang="ko-KR"/>
              <a:t>나는 이 양말을 사고 싶어요.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sell / 뜻: 팔다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They sell T-shirts here.</a:t>
            </a:r>
          </a:p>
          <a:p>
            <a:r>
              <a:rPr lang="ko-KR"/>
              <a:t>여기에서 티셔츠를 팔아요.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small / 뜻: 작은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This T-shirt is too small.</a:t>
            </a:r>
          </a:p>
          <a:p>
            <a:r>
              <a:rPr lang="ko-KR"/>
              <a:t>이 티셔츠는 너무 작아요.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color / 뜻: 색깔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What color do you like?</a:t>
            </a:r>
          </a:p>
          <a:p>
            <a:r>
              <a:rPr lang="ko-KR"/>
              <a:t>무슨 색깔을 좋아하나요?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on sale / 뜻: 할인 중인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These gloves are on sale.</a:t>
            </a:r>
          </a:p>
          <a:p>
            <a:r>
              <a:rPr lang="ko-KR"/>
              <a:t>이 장갑은 할인 중이에요.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receipt / 뜻: 영수증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Here is your receipt.</a:t>
            </a:r>
          </a:p>
          <a:p>
            <a:r>
              <a:rPr lang="ko-KR"/>
              <a:t>영수증 여기 있어요.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change / 뜻: 거스름돈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Here is your change.</a:t>
            </a:r>
          </a:p>
          <a:p>
            <a:r>
              <a:rPr lang="ko-KR"/>
              <a:t>거스름돈 여기 있어요.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total / 뜻: 합계</a:t>
            </a:r>
          </a:p>
          <a:p>
            <a:r>
              <a:rPr lang="ko-KR"/>
              <a:t>그림을 보고 영어를 말한 뒤 클릭하면 영어 단어 전체가 나타납니다.</a:t>
            </a:r>
          </a:p>
          <a:p>
            <a:r>
              <a:rPr lang="ko-KR"/>
              <a:t>예문: The total is 10,000 won.</a:t>
            </a:r>
          </a:p>
          <a:p>
            <a:r>
              <a:rPr lang="ko-KR"/>
              <a:t>합계는 10,000원이에요.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보너스 단어 11–18, 심화 단어 19–21 포함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보너스 단어 11–18, 심화 단어 19–21 포함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보너스 단어 11–18, 심화 단어 19–21 포함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7B129-1107-415B-89ED-37A5A220356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CF7C4-85E4-4BF5-875F-CF65CEADAA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2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4552D-E7D6-43A4-8904-627A7500EF89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23B14-308A-44E9-BCBD-1839EC10812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E7CD2-ED60-47B9-8D3A-2C4AC69B21F4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46214-0642-40ED-919F-92985EE6B07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44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1BB05-9F92-4B5C-9816-75A4FBEC803F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8543D-590B-4228-8874-BD73C9277B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3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99C61-CFAC-40C6-81FF-4DDE0392DB09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3D055-5CB9-4AB8-A60B-AEFA4A71267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50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4DA2A-D323-4FC8-958A-B32DF35CADBF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41731-3317-46BB-8708-DC87993673B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5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ABF3A-ABA4-4357-BC0C-9733B3DE4743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AC73B-B15E-442A-8218-A7AF25280E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6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3A5-A8A5-49EF-95D3-8549FAE8FC85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15673-DBAC-4EDB-BE82-1EB2B5A477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5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63D-6FC5-4382-8E5E-23FCC380EB0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85244-2095-47DA-BF55-3FADF0AB99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32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4DDF8-90A0-4DF5-9F4E-9CF032D5FE3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7D1A8-C2BB-4AD8-8148-7A23D710846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5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A55BC-88B6-418A-AD52-A986264EF95A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98BC0-76FE-43C4-A0F9-9F24EF19AE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191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7F7CFD9-7945-45CE-AD12-7950C3978726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A1ABF6C-D58F-439F-B983-91DF98DE640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4D6FFC8-30F9-4CCB-AEF5-2373E414EB33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E7FCB48-DB25-444B-9296-E81F8D5865F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079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37FB4B6-2384-4BCB-A945-16F5CF7F9A4A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ABB1E8B-C431-4D6D-97F6-F4B3E13465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68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3B1F3FB-1F06-4496-9BA8-3D5B61D19FE7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33DEE63-18C6-4E96-BADF-AE6DB5BA00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393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653006C-D719-456E-AF99-651454000074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AEE0FA8-3840-4A15-9923-951762C9829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882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CBF94BC7-6F76-42CC-ACE0-0B90346A4BA4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C4F5DCA-EB3E-4308-8B6F-916335745B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35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3E6B205-5FA2-497C-880C-16DECE525275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C3C6376-BDA4-4EA7-BF51-92AD0A24134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97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4AA3385-C511-4011-B0A8-04353DA0A288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F5EC536-E803-4F0B-8C3E-1FBE199CC7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917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9747FAC-95C3-4651-87DB-6387AFD322FD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78F668-543A-4785-A2DA-693860E7A49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78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ED38A5-2DEA-40FA-AFFD-D790CA58AE88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768D9FF-CF87-4756-8593-D3A9C976BB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502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687477B-17AB-471A-A931-F9ED1096B28E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4DBA786-C4A7-44EB-88D5-5A8D8E85418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26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fld id="{DF337A91-A61B-4017-B881-8415AC8A5D22}" type="datetimeFigureOut">
              <a:rPr lang="ko-KR" altLang="en-US" smtClean="0"/>
              <a:pPr>
                <a:defRPr/>
              </a:pPr>
              <a:t>2026-10-14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fld id="{83670DF9-776A-4C94-8E76-7F5552992E5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06" r:id="rId1"/>
    <p:sldLayoutId id="2147486607" r:id="rId2"/>
    <p:sldLayoutId id="2147486608" r:id="rId3"/>
    <p:sldLayoutId id="2147486609" r:id="rId4"/>
    <p:sldLayoutId id="2147486610" r:id="rId5"/>
    <p:sldLayoutId id="2147486611" r:id="rId6"/>
    <p:sldLayoutId id="2147486612" r:id="rId7"/>
    <p:sldLayoutId id="2147486613" r:id="rId8"/>
    <p:sldLayoutId id="2147486614" r:id="rId9"/>
    <p:sldLayoutId id="2147486615" r:id="rId10"/>
    <p:sldLayoutId id="214748661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fld id="{FE7EE962-461A-4920-96D0-52CD17918C24}" type="datetimeFigureOut">
              <a:rPr lang="ko-KR" altLang="en-US" smtClean="0"/>
              <a:pPr>
                <a:defRPr/>
              </a:pPr>
              <a:t>2026-10-14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a아띠" panose="02020600000000000000" pitchFamily="18" charset="-127"/>
                <a:ea typeface="a아띠" panose="02020600000000000000" pitchFamily="18" charset="-127"/>
              </a:defRPr>
            </a:lvl1pPr>
          </a:lstStyle>
          <a:p>
            <a:pPr>
              <a:defRPr/>
            </a:pPr>
            <a:fld id="{902271D7-8276-4EA0-A825-3FEC1930E4E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28" r:id="rId1"/>
    <p:sldLayoutId id="2147486629" r:id="rId2"/>
    <p:sldLayoutId id="2147486630" r:id="rId3"/>
    <p:sldLayoutId id="2147486631" r:id="rId4"/>
    <p:sldLayoutId id="2147486632" r:id="rId5"/>
    <p:sldLayoutId id="2147486633" r:id="rId6"/>
    <p:sldLayoutId id="2147486634" r:id="rId7"/>
    <p:sldLayoutId id="2147486635" r:id="rId8"/>
    <p:sldLayoutId id="2147486636" r:id="rId9"/>
    <p:sldLayoutId id="2147486637" r:id="rId10"/>
    <p:sldLayoutId id="2147486638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아띠" panose="02020600000000000000" pitchFamily="18" charset="-127"/>
          <a:ea typeface="a아띠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l10_cover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l10_socks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l10_gloves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l10_sunglasses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l10_shoes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l10_pants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l10_cap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l10_tshirt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47.xml.rels><?xml version="1.0" encoding="UTF-8" standalone="yes"?>
<Relationships xmlns="http://schemas.openxmlformats.org/package/2006/relationships"><Relationship Id="rId3" Type="http://schemas.openxmlformats.org/officeDocument/2006/relationships/image" Target="../media/l10_siz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image" Target="../media/l10_larg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l10_won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image" Target="../media/l10_cheap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51.xml.rels><?xml version="1.0" encoding="UTF-8" standalone="yes"?>
<Relationships xmlns="http://schemas.openxmlformats.org/package/2006/relationships"><Relationship Id="rId3" Type="http://schemas.openxmlformats.org/officeDocument/2006/relationships/image" Target="../media/l10_expensiv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l10_pric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l10_buy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l10_sell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55.xml.rels><?xml version="1.0" encoding="UTF-8" standalone="yes"?>
<Relationships xmlns="http://schemas.openxmlformats.org/package/2006/relationships"><Relationship Id="rId3" Type="http://schemas.openxmlformats.org/officeDocument/2006/relationships/image" Target="../media/l10_small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l10_color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l10_sal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l10_receipt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l10_change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l10_total.png"/><Relationship Id="rId1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5000" y="666750"/>
            <a:ext cx="7239000" cy="1047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5400" b="1" dirty="0">
                <a:solidFill>
                  <a:srgbClr val="FF0066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Lesson 10-1</a:t>
            </a:r>
            <a:endParaRPr lang="ko-KR" sz="5400"/>
          </a:p>
        </p:txBody>
      </p:sp>
      <p:sp>
        <p:nvSpPr>
          <p:cNvPr id="9" name="직사각형 8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ko-KR" altLang="en-US" sz="1400" b="1" dirty="0"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38375" y="1809750"/>
            <a:ext cx="9763125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400" dirty="0">
                <a:latin typeface="KG Red Hands" panose="02000505000000020004" pitchFamily="2" charset="0"/>
                <a:ea typeface="맑은 고딕" panose="02020600000000000000" pitchFamily="18" charset="-127"/>
              </a:rPr>
              <a:t>How Much Are These Socks?</a:t>
            </a:r>
            <a:endParaRPr lang="ko-KR" sz="4400"/>
          </a:p>
        </p:txBody>
      </p:sp>
      <p:sp>
        <p:nvSpPr>
          <p:cNvPr id="11" name="직사각형 10"/>
          <p:cNvSpPr/>
          <p:nvPr/>
        </p:nvSpPr>
        <p:spPr>
          <a:xfrm>
            <a:off x="0" y="1399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ko-KR" altLang="en-US" sz="1400" b="1" dirty="0">
              <a:solidFill>
                <a:srgbClr val="9933FF"/>
              </a:solidFill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pic>
        <p:nvPicPr>
          <p:cNvPr id="12" name="그림 11" descr="Lesson 10: cover">
            <a:extLst>
              <a:ext uri="{FF2B5EF4-FFF2-40B4-BE49-F238E27FC236}">
                <a16:creationId xmlns:a16="http://schemas.microsoft.com/office/drawing/2014/main" id="{9554912B-36BE-4A60-BA5F-5FF7B66A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253" y="3000375"/>
            <a:ext cx="3435494" cy="3286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noFill/>
                <a:latin typeface="a아띠" panose="02020600000000000000" pitchFamily="18" charset="-127"/>
                <a:ea typeface="맑은 고딕" panose="02020600000000000000" pitchFamily="18" charset="-127"/>
              </a:rPr>
              <a:t>New Words</a:t>
            </a:r>
            <a:endParaRPr lang="ko-KR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socks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양말 )</a:t>
            </a:r>
            <a:endParaRPr lang="ko-KR" sz="4400"/>
          </a:p>
        </p:txBody>
      </p:sp>
      <p:pic>
        <p:nvPicPr>
          <p:cNvPr id="9" name="Picture 8" descr="Lesson 10: soc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noFill/>
                <a:latin typeface="a아띠" panose="02020600000000000000" pitchFamily="18" charset="-127"/>
                <a:ea typeface="맑은 고딕" panose="02020600000000000000" pitchFamily="18" charset="-127"/>
              </a:rPr>
              <a:t>Bonus Words</a:t>
            </a:r>
            <a:endParaRPr lang="ko-KR" sz="8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noFill/>
                <a:latin typeface="a아띠" panose="02020600000000000000" pitchFamily="18" charset="-127"/>
                <a:ea typeface="맑은 고딕" panose="02020600000000000000" pitchFamily="18" charset="-127"/>
              </a:rPr>
              <a:t>More Words</a:t>
            </a:r>
            <a:endParaRPr lang="ko-KR" sz="8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492896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Look &amp; Listen</a:t>
            </a:r>
            <a:endParaRPr lang="ko-KR" sz="8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F342D-7DFC-4108-AB2E-30575B28B261}"/>
              </a:ext>
            </a:extLst>
          </p:cNvPr>
          <p:cNvSpPr txBox="1"/>
          <p:nvPr/>
        </p:nvSpPr>
        <p:spPr>
          <a:xfrm>
            <a:off x="5238750" y="4143375"/>
            <a:ext cx="619125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Lesson 10 · pp. 124–125</a:t>
            </a:r>
            <a:endParaRPr lang="ko-KR" sz="2800"/>
          </a:p>
        </p:txBody>
      </p:sp>
    </p:spTree>
    <p:extLst>
      <p:ext uri="{BB962C8B-B14F-4D97-AF65-F5344CB8AC3E}">
        <p14:creationId xmlns:p14="http://schemas.microsoft.com/office/powerpoint/2010/main" val="4274623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gloves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장갑 )</a:t>
            </a:r>
            <a:endParaRPr lang="ko-KR" sz="4400"/>
          </a:p>
        </p:txBody>
      </p:sp>
      <p:pic>
        <p:nvPicPr>
          <p:cNvPr id="9" name="Picture 8" descr="Lesson 10: glo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sunglasses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선글라스 )</a:t>
            </a:r>
            <a:endParaRPr lang="ko-KR" sz="4400"/>
          </a:p>
        </p:txBody>
      </p:sp>
      <p:pic>
        <p:nvPicPr>
          <p:cNvPr id="9" name="Picture 8" descr="Lesson 10: sun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01" y="2214742"/>
            <a:ext cx="6399999" cy="366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shoes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신발 )</a:t>
            </a:r>
            <a:endParaRPr lang="ko-KR" sz="4400"/>
          </a:p>
        </p:txBody>
      </p:sp>
      <p:pic>
        <p:nvPicPr>
          <p:cNvPr id="9" name="Picture 8" descr="Lesson 10: sho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pants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바지 )</a:t>
            </a:r>
            <a:endParaRPr lang="ko-KR" sz="4400"/>
          </a:p>
        </p:txBody>
      </p:sp>
      <p:pic>
        <p:nvPicPr>
          <p:cNvPr id="9" name="Picture 8" descr="Lesson 10: pa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065" y="1762125"/>
            <a:ext cx="369387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cap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모자 )</a:t>
            </a:r>
            <a:endParaRPr lang="ko-KR" sz="4400"/>
          </a:p>
        </p:txBody>
      </p:sp>
      <p:pic>
        <p:nvPicPr>
          <p:cNvPr id="9" name="Picture 8" descr="Lesson 10: 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T-shirt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티셔츠 )</a:t>
            </a:r>
            <a:endParaRPr lang="ko-KR" sz="4400"/>
          </a:p>
        </p:txBody>
      </p:sp>
      <p:pic>
        <p:nvPicPr>
          <p:cNvPr id="9" name="Picture 8" descr="Lesson 10: T-shi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size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크기, 치수 )</a:t>
            </a:r>
            <a:endParaRPr lang="ko-KR" sz="4400"/>
          </a:p>
        </p:txBody>
      </p:sp>
      <p:pic>
        <p:nvPicPr>
          <p:cNvPr id="9" name="Picture 8" descr="Lesson 10: 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00" y="2491882"/>
            <a:ext cx="6400000" cy="311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large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큰 )</a:t>
            </a:r>
            <a:endParaRPr lang="ko-KR" sz="4400"/>
          </a:p>
        </p:txBody>
      </p:sp>
      <p:pic>
        <p:nvPicPr>
          <p:cNvPr id="9" name="Picture 8" descr="Lesson 10: lar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36" y="1762125"/>
            <a:ext cx="554132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won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원 )</a:t>
            </a:r>
            <a:endParaRPr lang="ko-KR" sz="4400"/>
          </a:p>
        </p:txBody>
      </p:sp>
      <p:pic>
        <p:nvPicPr>
          <p:cNvPr id="9" name="Picture 8" descr="Lesson 10: w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54" y="1762125"/>
            <a:ext cx="557309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cheap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값이 싼 )</a:t>
            </a:r>
            <a:endParaRPr lang="ko-KR" sz="4400"/>
          </a:p>
        </p:txBody>
      </p:sp>
      <p:pic>
        <p:nvPicPr>
          <p:cNvPr id="9" name="Picture 8" descr="Lesson 10: che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00" y="1807276"/>
            <a:ext cx="6400000" cy="448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expensive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비싼 )</a:t>
            </a:r>
            <a:endParaRPr lang="ko-KR" sz="4400"/>
          </a:p>
        </p:txBody>
      </p:sp>
      <p:pic>
        <p:nvPicPr>
          <p:cNvPr id="9" name="Picture 8" descr="Lesson 10: expens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926" y="1762125"/>
            <a:ext cx="591614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price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가격 )</a:t>
            </a:r>
            <a:endParaRPr lang="ko-KR" sz="4400"/>
          </a:p>
        </p:txBody>
      </p:sp>
      <p:pic>
        <p:nvPicPr>
          <p:cNvPr id="9" name="Picture 8" descr="Lesson 10: pr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299" y="1762125"/>
            <a:ext cx="556340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buy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사다 )</a:t>
            </a:r>
            <a:endParaRPr lang="ko-KR" sz="4400"/>
          </a:p>
        </p:txBody>
      </p:sp>
      <p:pic>
        <p:nvPicPr>
          <p:cNvPr id="9" name="Picture 8" descr="Lesson 10: bu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196" y="1762125"/>
            <a:ext cx="557560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sell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팔다 )</a:t>
            </a:r>
            <a:endParaRPr lang="ko-KR" sz="4400"/>
          </a:p>
        </p:txBody>
      </p:sp>
      <p:pic>
        <p:nvPicPr>
          <p:cNvPr id="9" name="Picture 8" descr="Lesson 10: s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935" y="1762125"/>
            <a:ext cx="510813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small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작은 )</a:t>
            </a:r>
            <a:endParaRPr lang="ko-KR" sz="4400"/>
          </a:p>
        </p:txBody>
      </p:sp>
      <p:pic>
        <p:nvPicPr>
          <p:cNvPr id="9" name="Picture 8" descr="Lesson 10: sm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32" y="1762125"/>
            <a:ext cx="459193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color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색깔 )</a:t>
            </a:r>
            <a:endParaRPr lang="ko-KR" sz="4400"/>
          </a:p>
        </p:txBody>
      </p:sp>
      <p:pic>
        <p:nvPicPr>
          <p:cNvPr id="9" name="Picture 8" descr="Lesson 10: col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on sale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할인 중인 )</a:t>
            </a:r>
            <a:endParaRPr lang="ko-KR" sz="4400"/>
          </a:p>
        </p:txBody>
      </p:sp>
      <p:pic>
        <p:nvPicPr>
          <p:cNvPr id="9" name="Picture 8" descr="Lesson 10: on s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732" y="1762125"/>
            <a:ext cx="503453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receipt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영수증 )</a:t>
            </a:r>
            <a:endParaRPr lang="ko-KR" sz="4400"/>
          </a:p>
        </p:txBody>
      </p:sp>
      <p:pic>
        <p:nvPicPr>
          <p:cNvPr id="9" name="Picture 8" descr="Lesson 10: rece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change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거스름돈 )</a:t>
            </a:r>
            <a:endParaRPr lang="ko-KR" sz="4400"/>
          </a:p>
        </p:txBody>
      </p:sp>
      <p:pic>
        <p:nvPicPr>
          <p:cNvPr id="9" name="Picture 8" descr="Lesson 10: ch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00" y="1913140"/>
            <a:ext cx="6400000" cy="42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endParaRPr lang="ko-KR" sz="4000"/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981200" y="432582"/>
            <a:ext cx="8229600" cy="1143000"/>
          </a:xfrm>
          <a:solidFill>
            <a:srgbClr val="FFCCCC"/>
          </a:solidFill>
        </p:spPr>
        <p:txBody>
          <a:bodyPr/>
          <a:lstStyle/>
          <a:p>
            <a:r>
              <a:rPr lang="en-US" altLang="ko-KR" sz="4400" b="1" dirty="0">
                <a:solidFill>
                  <a:srgbClr val="FF0066"/>
                </a:solidFill>
                <a:latin typeface="KG Red Hands" panose="02000505000000020004" pitchFamily="2" charset="0"/>
                <a:ea typeface="맑은 고딕"/>
              </a:rPr>
              <a:t>total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 xml:space="preserve"> ( 합계 )</a:t>
            </a:r>
            <a:endParaRPr lang="ko-KR" sz="4400"/>
          </a:p>
        </p:txBody>
      </p:sp>
      <p:pic>
        <p:nvPicPr>
          <p:cNvPr id="9" name="Picture 8" descr="Lesson 10: tot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621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>
        <a:normAutofit/>
      </a:bodyPr>
      <a:lstStyle>
        <a:defPPr marL="342900" marR="0" indent="-342900" algn="l" defTabSz="914400" rtl="0" eaLnBrk="1" fontAlgn="auto" latinLnBrk="1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defRPr kumimoji="0" sz="6600" b="0" i="0" u="none" strike="noStrike" kern="1200" cap="none" spc="0" normalizeH="0" baseline="0" noProof="0" dirty="0" smtClean="0">
            <a:solidFill>
              <a:schemeClr val="tx1"/>
            </a:solidFill>
            <a:effectLst/>
            <a:uLnTx/>
            <a:uFillTx/>
            <a:latin typeface="08서울남산체 EB"/>
            <a:ea typeface="08서울남산체 EB"/>
            <a:cs typeface="+mn-cs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2545</Words>
  <Application>Microsoft Office PowerPoint</Application>
  <PresentationFormat>와이드스크린</PresentationFormat>
  <Paragraphs>258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a아띠</vt:lpstr>
      <vt:lpstr>KG Red Hands</vt:lpstr>
      <vt:lpstr>굴림</vt:lpstr>
      <vt:lpstr>맑은 고딕</vt:lpstr>
      <vt:lpstr>Arial</vt:lpstr>
      <vt:lpstr>Office 테마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sec</dc:creator>
  <cp:lastModifiedBy>상은 이</cp:lastModifiedBy>
  <cp:revision>465</cp:revision>
  <dcterms:created xsi:type="dcterms:W3CDTF">2011-03-26T02:20:54Z</dcterms:created>
  <dcterms:modified xsi:type="dcterms:W3CDTF">2026-10-14T03:22:13Z</dcterms:modified>
  <cp:version/>
</cp:coreProperties>
</file>
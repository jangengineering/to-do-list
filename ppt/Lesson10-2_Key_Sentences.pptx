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91" r:id="rId42"/>
    <p:sldId id="292" r:id="rId43"/>
    <p:sldId id="293" r:id="rId44"/>
    <p:sldId id="294" r:id="rId45"/>
    <p:sldId id="295" r:id="rId46"/>
    <p:sldId id="263" r:id="rId9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277" r:id="rId23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286" r:id="rId32"/>
    <p:sldId id="313" r:id="rId64"/>
    <p:sldId id="314" r:id="rId65"/>
    <p:sldId id="315" r:id="rId66"/>
    <p:sldId id="290" r:id="rId36"/>
  </p:sldIdLst>
  <p:sldSz cx="12192000" cy="6858000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2" autoAdjust="0"/>
    <p:restoredTop sz="94660"/>
  </p:normalViewPr>
  <p:slideViewPr>
    <p:cSldViewPr>
      <p:cViewPr varScale="1">
        <p:scale>
          <a:sx n="104" d="100"/>
          <a:sy n="104" d="100"/>
        </p:scale>
        <p:origin x="714" y="114"/>
      </p:cViewPr>
      <p:guideLst>
        <p:guide orient="horz" pos="2158"/>
        <p:guide pos="383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2" Type="http://schemas.openxmlformats.org/officeDocument/2006/relationships/slide" Target="slides/slide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23" Type="http://schemas.openxmlformats.org/officeDocument/2006/relationships/slide" Target="slides/slide22.xml"/><Relationship Id="rId36" Type="http://schemas.openxmlformats.org/officeDocument/2006/relationships/slide" Target="slides/slide3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38" Type="http://schemas.openxmlformats.org/officeDocument/2006/relationships/presProps" Target="presProps.xml"/>  <Relationship Id="rId42" Type="http://schemas.openxmlformats.org/officeDocument/2006/relationships/slide" Target="slides/slide36.xml"/>
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  <Relationship Id="rId49" Type="http://schemas.openxmlformats.org/officeDocument/2006/relationships/slide" Target="slides/slide43.xml"/>
  <Relationship Id="rId50" Type="http://schemas.openxmlformats.org/officeDocument/2006/relationships/slide" Target="slides/slide44.xml"/>
  <Relationship Id="rId51" Type="http://schemas.openxmlformats.org/officeDocument/2006/relationships/slide" Target="slides/slide45.xml"/>
  <Relationship Id="rId52" Type="http://schemas.openxmlformats.org/officeDocument/2006/relationships/slide" Target="slides/slide46.xml"/>
  <Relationship Id="rId53" Type="http://schemas.openxmlformats.org/officeDocument/2006/relationships/slide" Target="slides/slide47.xml"/>
  <Relationship Id="rId54" Type="http://schemas.openxmlformats.org/officeDocument/2006/relationships/slide" Target="slides/slide48.xml"/>
  <Relationship Id="rId55" Type="http://schemas.openxmlformats.org/officeDocument/2006/relationships/slide" Target="slides/slide49.xml"/>
  <Relationship Id="rId56" Type="http://schemas.openxmlformats.org/officeDocument/2006/relationships/slide" Target="slides/slide50.xml"/>
  <Relationship Id="rId57" Type="http://schemas.openxmlformats.org/officeDocument/2006/relationships/slide" Target="slides/slide51.xml"/>
  <Relationship Id="rId58" Type="http://schemas.openxmlformats.org/officeDocument/2006/relationships/slide" Target="slides/slide52.xml"/>
  <Relationship Id="rId59" Type="http://schemas.openxmlformats.org/officeDocument/2006/relationships/slide" Target="slides/slide53.xml"/>
  <Relationship Id="rId60" Type="http://schemas.openxmlformats.org/officeDocument/2006/relationships/slide" Target="slides/slide54.xml"/>
  <Relationship Id="rId61" Type="http://schemas.openxmlformats.org/officeDocument/2006/relationships/slide" Target="slides/slide55.xml"/>
  <Relationship Id="rId62" Type="http://schemas.openxmlformats.org/officeDocument/2006/relationships/slide" Target="slides/slide56.xml"/>
  <Relationship Id="rId63" Type="http://schemas.openxmlformats.org/officeDocument/2006/relationships/slide" Target="slides/slide57.xml"/>
  <Relationship Id="rId64" Type="http://schemas.openxmlformats.org/officeDocument/2006/relationships/slide" Target="slides/slide58.xml"/>
  <Relationship Id="rId65" Type="http://schemas.openxmlformats.org/officeDocument/2006/relationships/slide" Target="slides/slide59.xml"/>
  <Relationship Id="rId66" Type="http://schemas.openxmlformats.org/officeDocument/2006/relationships/slide" Target="slides/slide6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아띠"/>
                <a:ea typeface="a아띠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아띠"/>
                <a:ea typeface="a아띠"/>
              </a:defRPr>
            </a:lvl1pPr>
          </a:lstStyle>
          <a:p>
            <a:pPr>
              <a:defRPr/>
            </a:pPr>
            <a:fld id="{7D6D2A12-D40F-40BA-B701-6EAECF805A26}" type="datetime1">
              <a:rPr lang="ko-KR" altLang="en-US" smtClean="0"/>
              <a:pPr>
                <a:defRPr/>
              </a:pPr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아띠"/>
                <a:ea typeface="a아띠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아띠"/>
                <a:ea typeface="a아띠"/>
              </a:defRPr>
            </a:lvl1pPr>
          </a:lstStyle>
          <a:p>
            <a:pPr>
              <a:defRPr/>
            </a:pPr>
            <a:fld id="{2E59FE3E-BA8F-4B57-9760-6F703D9CBC66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7400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1훈나무그늘 M"/>
        <a:ea typeface="1훈나무그늘 M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1훈나무그늘 M"/>
        <a:ea typeface="1훈나무그늘 M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1훈나무그늘 M"/>
        <a:ea typeface="1훈나무그늘 M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1훈나무그늘 M"/>
        <a:ea typeface="1훈나무그늘 M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1훈나무그늘 M"/>
        <a:ea typeface="1훈나무그늘 M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  <a:p>
            <a:r>
              <a:rPr lang="ko-KR"/>
              <a:t>이미지: 선생님이 제공한 10-1 New Words PPT의 교과서 그림.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  <a:p>
            <a:r>
              <a:rPr lang="ko-KR"/>
              <a:t>핵심 표현을 먼저 읽고 뜻을 확인합니다.</a:t>
            </a:r>
          </a:p>
          <a:p>
            <a:r>
              <a:rPr lang="ko-KR"/>
              <a:t>How much are these socks? / 이 양말은 얼마인가요?</a:t>
            </a:r>
          </a:p>
          <a:p>
            <a:r>
              <a:rPr lang="ko-KR"/>
              <a:t>They’re two thousand won. / 2,000원이에요.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  <a:p>
            <a:r>
              <a:rPr lang="ko-KR"/>
              <a:t>핵심 표현을 먼저 읽고 뜻을 확인합니다.</a:t>
            </a:r>
          </a:p>
          <a:p>
            <a:r>
              <a:rPr lang="ko-KR"/>
              <a:t>How much is this cap? / 이 모자는 얼마인가요?</a:t>
            </a:r>
          </a:p>
          <a:p>
            <a:r>
              <a:rPr lang="ko-KR"/>
              <a:t>It’s five thousand won. / 5,000원이에요.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  <a:p>
            <a:r>
              <a:rPr lang="ko-KR"/>
              <a:t>핵심 표현을 먼저 읽고 뜻을 확인합니다.</a:t>
            </a:r>
          </a:p>
          <a:p>
            <a:r>
              <a:rPr lang="ko-KR"/>
              <a:t>How much are these shoes? / 이 신발은 얼마인가요?</a:t>
            </a:r>
          </a:p>
          <a:p>
            <a:r>
              <a:rPr lang="ko-KR"/>
              <a:t>They’re thirty thousand won. / 30,000원이에요.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  <a:p>
            <a:r>
              <a:rPr lang="ko-KR"/>
              <a:t>핵심 표현을 먼저 읽고 뜻을 확인합니다.</a:t>
            </a:r>
          </a:p>
          <a:p>
            <a:r>
              <a:rPr lang="ko-KR"/>
              <a:t>What size do you want? / 어떤 크기를 원하나요?</a:t>
            </a:r>
          </a:p>
          <a:p>
            <a:r>
              <a:rPr lang="ko-KR"/>
              <a:t>Large, please. / 큰 사이즈로 주세요.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  <a:p>
            <a:r>
              <a:rPr lang="ko-KR"/>
              <a:t>핵심 표현을 먼저 읽고 뜻을 확인합니다.</a:t>
            </a:r>
          </a:p>
          <a:p>
            <a:r>
              <a:rPr lang="ko-KR"/>
              <a:t>What color do you want? / 어떤 색깔을 원하나요?</a:t>
            </a:r>
          </a:p>
          <a:p>
            <a:r>
              <a:rPr lang="ko-KR"/>
              <a:t>I want blue ones, please. / 파란색으로 주세요.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How</a:t>
            </a:r>
          </a:p>
          <a:p>
            <a:r>
              <a:rPr lang="ko-KR"/>
              <a:t>문장: How much are these socks?</a:t>
            </a:r>
          </a:p>
          <a:p>
            <a:r>
              <a:rPr lang="ko-KR"/>
              <a:t>뜻: 이 양말은 얼마인가요?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  <a:p>
            <a:r>
              <a:rPr lang="ko-KR"/>
              <a:t>핵심 표현을 먼저 읽고 뜻을 확인합니다.</a:t>
            </a:r>
          </a:p>
          <a:p>
            <a:r>
              <a:rPr lang="ko-KR"/>
              <a:t>1,000 = one thousand / 10,000 = ten thousand</a:t>
            </a:r>
          </a:p>
          <a:p>
            <a:r>
              <a:rPr lang="ko-KR"/>
              <a:t>twenty thousand won / won에는 -s를 붙이지 않아요.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gloves</a:t>
            </a:r>
          </a:p>
          <a:p>
            <a:r>
              <a:rPr lang="ko-KR"/>
              <a:t>문장: How much are these gloves?</a:t>
            </a:r>
          </a:p>
          <a:p>
            <a:r>
              <a:rPr lang="ko-KR"/>
              <a:t>뜻: 이 장갑은 얼마인가요?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sunglasses</a:t>
            </a:r>
          </a:p>
          <a:p>
            <a:r>
              <a:rPr lang="ko-KR"/>
              <a:t>문장: How much are these sunglasses?</a:t>
            </a:r>
          </a:p>
          <a:p>
            <a:r>
              <a:rPr lang="ko-KR"/>
              <a:t>뜻: 이 선글라스는 얼마인가요?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are</a:t>
            </a:r>
          </a:p>
          <a:p>
            <a:r>
              <a:rPr lang="ko-KR"/>
              <a:t>문장: How much are these pants?</a:t>
            </a:r>
          </a:p>
          <a:p>
            <a:r>
              <a:rPr lang="ko-KR"/>
              <a:t>뜻: 이 바지는 얼마인가요?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is</a:t>
            </a:r>
          </a:p>
          <a:p>
            <a:r>
              <a:rPr lang="ko-KR"/>
              <a:t>문장: How much is this cap?</a:t>
            </a:r>
          </a:p>
          <a:p>
            <a:r>
              <a:rPr lang="ko-KR"/>
              <a:t>뜻: 이 모자는 얼마인가요?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T-shirt</a:t>
            </a:r>
          </a:p>
          <a:p>
            <a:r>
              <a:rPr lang="ko-KR"/>
              <a:t>문장: How much is this T-shirt?</a:t>
            </a:r>
          </a:p>
          <a:p>
            <a:r>
              <a:rPr lang="ko-KR"/>
              <a:t>뜻: 이 티셔츠는 얼마인가요?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thousand</a:t>
            </a:r>
          </a:p>
          <a:p>
            <a:r>
              <a:rPr lang="ko-KR"/>
              <a:t>문장: They’re two thousand won.</a:t>
            </a:r>
          </a:p>
          <a:p>
            <a:r>
              <a:rPr lang="ko-KR"/>
              <a:t>뜻: 2,000원이에요.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They’re</a:t>
            </a:r>
          </a:p>
          <a:p>
            <a:r>
              <a:rPr lang="ko-KR"/>
              <a:t>문장: They’re thirty thousand won.</a:t>
            </a:r>
          </a:p>
          <a:p>
            <a:r>
              <a:rPr lang="ko-KR"/>
              <a:t>뜻: 30,000원이에요.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size</a:t>
            </a:r>
          </a:p>
          <a:p>
            <a:r>
              <a:rPr lang="ko-KR"/>
              <a:t>문장: What size do you want?</a:t>
            </a:r>
          </a:p>
          <a:p>
            <a:r>
              <a:rPr lang="ko-KR"/>
              <a:t>뜻: 어떤 크기를 원하나요?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Large</a:t>
            </a:r>
          </a:p>
          <a:p>
            <a:r>
              <a:rPr lang="ko-KR"/>
              <a:t>문장: Large, please.</a:t>
            </a:r>
          </a:p>
          <a:p>
            <a:r>
              <a:rPr lang="ko-KR"/>
              <a:t>뜻: 큰 사이즈로 주세요.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cheap</a:t>
            </a:r>
          </a:p>
          <a:p>
            <a:r>
              <a:rPr lang="ko-KR"/>
              <a:t>문장: These sunglasses are cheap.</a:t>
            </a:r>
          </a:p>
          <a:p>
            <a:r>
              <a:rPr lang="ko-KR"/>
              <a:t>뜻: 이 선글라스는 값이 싸요.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expensive</a:t>
            </a:r>
          </a:p>
          <a:p>
            <a:r>
              <a:rPr lang="ko-KR"/>
              <a:t>문장: These shoes are expensive.</a:t>
            </a:r>
          </a:p>
          <a:p>
            <a:r>
              <a:rPr lang="ko-KR"/>
              <a:t>뜻: 이 신발은 비싸요.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price</a:t>
            </a:r>
          </a:p>
          <a:p>
            <a:r>
              <a:rPr lang="ko-KR"/>
              <a:t>문장: What is the price?</a:t>
            </a:r>
          </a:p>
          <a:p>
            <a:r>
              <a:rPr lang="ko-KR"/>
              <a:t>뜻: 가격이 얼마예요?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buy</a:t>
            </a:r>
          </a:p>
          <a:p>
            <a:r>
              <a:rPr lang="ko-KR"/>
              <a:t>문장: I want to buy these socks.</a:t>
            </a:r>
          </a:p>
          <a:p>
            <a:r>
              <a:rPr lang="ko-KR"/>
              <a:t>뜻: 나는 이 양말을 사고 싶어요.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sell</a:t>
            </a:r>
          </a:p>
          <a:p>
            <a:r>
              <a:rPr lang="ko-KR"/>
              <a:t>문장: They sell T-shirts here.</a:t>
            </a:r>
          </a:p>
          <a:p>
            <a:r>
              <a:rPr lang="ko-KR"/>
              <a:t>뜻: 여기에서 티셔츠를 팔아요.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small</a:t>
            </a:r>
          </a:p>
          <a:p>
            <a:r>
              <a:rPr lang="ko-KR"/>
              <a:t>문장: This T-shirt is too small.</a:t>
            </a:r>
          </a:p>
          <a:p>
            <a:r>
              <a:rPr lang="ko-KR"/>
              <a:t>뜻: 이 티셔츠는 너무 작아요.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color</a:t>
            </a:r>
          </a:p>
          <a:p>
            <a:r>
              <a:rPr lang="ko-KR"/>
              <a:t>문장: What color do you want?</a:t>
            </a:r>
          </a:p>
          <a:p>
            <a:r>
              <a:rPr lang="ko-KR"/>
              <a:t>뜻: 어떤 색깔을 원하나요?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on sale</a:t>
            </a:r>
          </a:p>
          <a:p>
            <a:r>
              <a:rPr lang="ko-KR"/>
              <a:t>문장: These gloves are on sale.</a:t>
            </a:r>
          </a:p>
          <a:p>
            <a:r>
              <a:rPr lang="ko-KR"/>
              <a:t>뜻: 이 장갑은 할인 중이에요.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receipt</a:t>
            </a:r>
          </a:p>
          <a:p>
            <a:r>
              <a:rPr lang="ko-KR"/>
              <a:t>문장: Here is your receipt.</a:t>
            </a:r>
          </a:p>
          <a:p>
            <a:r>
              <a:rPr lang="ko-KR"/>
              <a:t>뜻: 영수증 여기 있어요.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change</a:t>
            </a:r>
          </a:p>
          <a:p>
            <a:r>
              <a:rPr lang="ko-KR"/>
              <a:t>문장: Here is your change.</a:t>
            </a:r>
          </a:p>
          <a:p>
            <a:r>
              <a:rPr lang="ko-KR"/>
              <a:t>뜻: 거스름돈 여기 있어요.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정답: total</a:t>
            </a:r>
          </a:p>
          <a:p>
            <a:r>
              <a:rPr lang="ko-KR"/>
              <a:t>문장: The total is ten thousand won.</a:t>
            </a:r>
          </a:p>
          <a:p>
            <a:r>
              <a:rPr lang="ko-KR"/>
              <a:t>뜻: 합계는 10,000원이에요.</a:t>
            </a:r>
          </a:p>
          <a:p>
            <a:r>
              <a:rPr lang="ko-KR"/>
              <a:t>클릭하면 빈칸의 답을 포함한 문장이 나타납니다.</a:t>
            </a:r>
          </a:p>
          <a:p>
            <a:r>
              <a:rPr lang="ko-KR"/>
              <a:t>이미지: 선생님이 제공한 10-1 New Words PPT 그림 또는 Microsoft Fluent Emoji(MIT License).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 — Key Expressions, Grammar</a:t>
            </a:r>
          </a:p>
          <a:p>
            <a:r>
              <a:rPr lang="ko-KR"/>
              <a:t>보너스·심화 문장은 10-1 New Words 예문 활용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7B129-1107-415B-89ED-37A5A220356C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CF7C4-85E4-4BF5-875F-CF65CEADAAC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2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4552D-E7D6-43A4-8904-627A7500EF89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23B14-308A-44E9-BCBD-1839EC10812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35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E7CD2-ED60-47B9-8D3A-2C4AC69B21F4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46214-0642-40ED-919F-92985EE6B07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44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1BB05-9F92-4B5C-9816-75A4FBEC803F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8543D-590B-4228-8874-BD73C9277B3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53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99C61-CFAC-40C6-81FF-4DDE0392DB09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3D055-5CB9-4AB8-A60B-AEFA4A71267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50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4DA2A-D323-4FC8-958A-B32DF35CADBF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41731-3317-46BB-8708-DC87993673B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85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ABF3A-ABA4-4357-BC0C-9733B3DE4743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AC73B-B15E-442A-8218-A7AF25280E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06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4F3A5-A8A5-49EF-95D3-8549FAE8FC85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15673-DBAC-4EDB-BE82-1EB2B5A477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56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63D-6FC5-4382-8E5E-23FCC380EB0C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85244-2095-47DA-BF55-3FADF0AB99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328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4DDF8-90A0-4DF5-9F4E-9CF032D5FE3C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7D1A8-C2BB-4AD8-8148-7A23D710846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45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A55BC-88B6-418A-AD52-A986264EF95A}" type="datetimeFigureOut">
              <a:rPr lang="ko-KR" altLang="en-US"/>
              <a:pPr>
                <a:defRPr/>
              </a:pPr>
              <a:t>2026-09-30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98BC0-76FE-43C4-A0F9-9F24EF19AE9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19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1훈나무그늘 M" panose="02020603020101020101" pitchFamily="18" charset="-127"/>
                <a:ea typeface="1훈나무그늘 M" panose="02020603020101020101" pitchFamily="18" charset="-127"/>
              </a:defRPr>
            </a:lvl1pPr>
          </a:lstStyle>
          <a:p>
            <a:pPr>
              <a:defRPr/>
            </a:pPr>
            <a:fld id="{DF337A91-A61B-4017-B881-8415AC8A5D22}" type="datetimeFigureOut">
              <a:rPr lang="ko-KR" altLang="en-US" smtClean="0"/>
              <a:pPr>
                <a:defRPr/>
              </a:pPr>
              <a:t>2026-09-30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1훈나무그늘 M" panose="02020603020101020101" pitchFamily="18" charset="-127"/>
                <a:ea typeface="1훈나무그늘 M" panose="02020603020101020101" pitchFamily="18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1훈나무그늘 M" panose="02020603020101020101" pitchFamily="18" charset="-127"/>
                <a:ea typeface="1훈나무그늘 M" panose="02020603020101020101" pitchFamily="18" charset="-127"/>
              </a:defRPr>
            </a:lvl1pPr>
          </a:lstStyle>
          <a:p>
            <a:pPr>
              <a:defRPr/>
            </a:pPr>
            <a:fld id="{83670DF9-776A-4C94-8E76-7F5552992E51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06" r:id="rId1"/>
    <p:sldLayoutId id="2147486607" r:id="rId2"/>
    <p:sldLayoutId id="2147486608" r:id="rId3"/>
    <p:sldLayoutId id="2147486609" r:id="rId4"/>
    <p:sldLayoutId id="2147486610" r:id="rId5"/>
    <p:sldLayoutId id="2147486611" r:id="rId6"/>
    <p:sldLayoutId id="2147486612" r:id="rId7"/>
    <p:sldLayoutId id="2147486613" r:id="rId8"/>
    <p:sldLayoutId id="2147486614" r:id="rId9"/>
    <p:sldLayoutId id="2147486615" r:id="rId10"/>
    <p:sldLayoutId id="214748661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1훈나무그늘 M" panose="02020603020101020101" pitchFamily="18" charset="-127"/>
          <a:ea typeface="1훈나무그늘 M" panose="02020603020101020101" pitchFamily="18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1훈나무그늘 M" panose="02020603020101020101" pitchFamily="18" charset="-127"/>
          <a:ea typeface="1훈나무그늘 M" panose="02020603020101020101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1훈나무그늘 M" panose="02020603020101020101" pitchFamily="18" charset="-127"/>
          <a:ea typeface="1훈나무그늘 M" panose="02020603020101020101" pitchFamily="18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1훈나무그늘 M" panose="02020603020101020101" pitchFamily="18" charset="-127"/>
          <a:ea typeface="1훈나무그늘 M" panose="02020603020101020101" pitchFamily="18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1훈나무그늘 M" panose="02020603020101020101" pitchFamily="18" charset="-127"/>
          <a:ea typeface="1훈나무그늘 M" panose="020206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1훈나무그늘 M" panose="02020603020101020101" pitchFamily="18" charset="-127"/>
          <a:ea typeface="1훈나무그늘 M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l10_cover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l10_socks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l10_socks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
<Relationships xmlns="http://schemas.openxmlformats.org/package/2006/relationships"><Relationship Id="rId3" Type="http://schemas.openxmlformats.org/officeDocument/2006/relationships/image" Target="../media/l10_cap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</Relationships>
</file>

<file path=ppt/slides/_rels/slide37.xml.rels><?xml version="1.0" encoding="UTF-8" standalone="yes"?>
<Relationships xmlns="http://schemas.openxmlformats.org/package/2006/relationships"><Relationship Id="rId3" Type="http://schemas.openxmlformats.org/officeDocument/2006/relationships/image" Target="../media/l10_shoes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/Relationships>
</file>

<file path=ppt/slides/_rels/slide38.xml.rels><?xml version="1.0" encoding="UTF-8" standalone="yes"?>
<Relationships xmlns="http://schemas.openxmlformats.org/package/2006/relationships"><Relationship Id="rId3" Type="http://schemas.openxmlformats.org/officeDocument/2006/relationships/image" Target="../media/l10_size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39.xml.rels><?xml version="1.0" encoding="UTF-8" standalone="yes"?>
<Relationships xmlns="http://schemas.openxmlformats.org/package/2006/relationships"><Relationship Id="rId3" Type="http://schemas.openxmlformats.org/officeDocument/2006/relationships/image" Target="../media/l10_color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7.xml"/></Relationships>
</file>

<file path=ppt/slides/_rels/slide40.xml.rels><?xml version="1.0" encoding="UTF-8" standalone="yes"?>
<Relationships xmlns="http://schemas.openxmlformats.org/package/2006/relationships"><Relationship Id="rId3" Type="http://schemas.openxmlformats.org/officeDocument/2006/relationships/image" Target="../media/l10_won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9.xml"/></Relationships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image" Target="../media/l10_gloves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0.xml"/></Relationships>
</file>

<file path=ppt/slides/_rels/slide42.xml.rels><?xml version="1.0" encoding="UTF-8" standalone="yes"?>
<Relationships xmlns="http://schemas.openxmlformats.org/package/2006/relationships"><Relationship Id="rId3" Type="http://schemas.openxmlformats.org/officeDocument/2006/relationships/image" Target="../media/l10_sunglasses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1.xml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l10_pants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2.xml"/></Relationships>
</file>

<file path=ppt/slides/_rels/slide44.xml.rels><?xml version="1.0" encoding="UTF-8" standalone="yes"?>
<Relationships xmlns="http://schemas.openxmlformats.org/package/2006/relationships"><Relationship Id="rId3" Type="http://schemas.openxmlformats.org/officeDocument/2006/relationships/image" Target="../media/l10_cap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3.xml"/></Relationships>
</file>

<file path=ppt/slides/_rels/slide45.xml.rels><?xml version="1.0" encoding="UTF-8" standalone="yes"?>
<Relationships xmlns="http://schemas.openxmlformats.org/package/2006/relationships"><Relationship Id="rId3" Type="http://schemas.openxmlformats.org/officeDocument/2006/relationships/image" Target="../media/l10_tshirt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4.xml"/></Relationships>
</file>

<file path=ppt/slides/_rels/slide46.xml.rels><?xml version="1.0" encoding="UTF-8" standalone="yes"?>
<Relationships xmlns="http://schemas.openxmlformats.org/package/2006/relationships"><Relationship Id="rId3" Type="http://schemas.openxmlformats.org/officeDocument/2006/relationships/image" Target="../media/l10_won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/Relationships>
</file>

<file path=ppt/slides/_rels/slide47.xml.rels><?xml version="1.0" encoding="UTF-8" standalone="yes"?>
<Relationships xmlns="http://schemas.openxmlformats.org/package/2006/relationships"><Relationship Id="rId3" Type="http://schemas.openxmlformats.org/officeDocument/2006/relationships/image" Target="../media/l10_shoes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6.xml"/></Relationships>
</file>

<file path=ppt/slides/_rels/slide48.xml.rels><?xml version="1.0" encoding="UTF-8" standalone="yes"?>
<Relationships xmlns="http://schemas.openxmlformats.org/package/2006/relationships"><Relationship Id="rId3" Type="http://schemas.openxmlformats.org/officeDocument/2006/relationships/image" Target="../media/l10_size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/Relationships>
</file>

<file path=ppt/slides/_rels/slide49.xml.rels><?xml version="1.0" encoding="UTF-8" standalone="yes"?>
<Relationships xmlns="http://schemas.openxmlformats.org/package/2006/relationships"><Relationship Id="rId3" Type="http://schemas.openxmlformats.org/officeDocument/2006/relationships/image" Target="../media/l10_large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8.xml"/></Relationships>
</file>

<file path=ppt/slides/_rels/slide50.xml.rels><?xml version="1.0" encoding="UTF-8" standalone="yes"?>
<Relationships xmlns="http://schemas.openxmlformats.org/package/2006/relationships"><Relationship Id="rId3" Type="http://schemas.openxmlformats.org/officeDocument/2006/relationships/image" Target="../media/l10_cheap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19.xml"/></Relationships>
</file>

<file path=ppt/slides/_rels/slide51.xml.rels><?xml version="1.0" encoding="UTF-8" standalone="yes"?>
<Relationships xmlns="http://schemas.openxmlformats.org/package/2006/relationships"><Relationship Id="rId3" Type="http://schemas.openxmlformats.org/officeDocument/2006/relationships/image" Target="../media/l10_expensive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0.xml"/></Relationships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image" Target="../media/l10_price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1.xml"/></Relationships>
</file>

<file path=ppt/slides/_rels/slide53.xml.rels><?xml version="1.0" encoding="UTF-8" standalone="yes"?>
<Relationships xmlns="http://schemas.openxmlformats.org/package/2006/relationships"><Relationship Id="rId3" Type="http://schemas.openxmlformats.org/officeDocument/2006/relationships/image" Target="../media/l10_buy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3.xml"/></Relationships>
</file>

<file path=ppt/slides/_rels/slide54.xml.rels><?xml version="1.0" encoding="UTF-8" standalone="yes"?>
<Relationships xmlns="http://schemas.openxmlformats.org/package/2006/relationships"><Relationship Id="rId3" Type="http://schemas.openxmlformats.org/officeDocument/2006/relationships/image" Target="../media/l10_sell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4.xml"/></Relationships>
</file>

<file path=ppt/slides/_rels/slide55.xml.rels><?xml version="1.0" encoding="UTF-8" standalone="yes"?>
<Relationships xmlns="http://schemas.openxmlformats.org/package/2006/relationships"><Relationship Id="rId3" Type="http://schemas.openxmlformats.org/officeDocument/2006/relationships/image" Target="../media/l10_small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5.xml"/></Relationships>
</file>

<file path=ppt/slides/_rels/slide56.xml.rels><?xml version="1.0" encoding="UTF-8" standalone="yes"?>
<Relationships xmlns="http://schemas.openxmlformats.org/package/2006/relationships"><Relationship Id="rId3" Type="http://schemas.openxmlformats.org/officeDocument/2006/relationships/image" Target="../media/l10_color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6.xml"/></Relationships>
</file>

<file path=ppt/slides/_rels/slide57.xml.rels><?xml version="1.0" encoding="UTF-8" standalone="yes"?>
<Relationships xmlns="http://schemas.openxmlformats.org/package/2006/relationships"><Relationship Id="rId3" Type="http://schemas.openxmlformats.org/officeDocument/2006/relationships/image" Target="../media/l10_sale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7.xml"/></Relationships>
</file>

<file path=ppt/slides/_rels/slide58.xml.rels><?xml version="1.0" encoding="UTF-8" standalone="yes"?>
<Relationships xmlns="http://schemas.openxmlformats.org/package/2006/relationships"><Relationship Id="rId3" Type="http://schemas.openxmlformats.org/officeDocument/2006/relationships/image" Target="../media/l10_receipt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8.xml"/></Relationships>
</file>

<file path=ppt/slides/_rels/slide59.xml.rels><?xml version="1.0" encoding="UTF-8" standalone="yes"?>
<Relationships xmlns="http://schemas.openxmlformats.org/package/2006/relationships"><Relationship Id="rId3" Type="http://schemas.openxmlformats.org/officeDocument/2006/relationships/image" Target="../media/l10_change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29.xml"/></Relationships>
</file>

<file path=ppt/slides/_rels/slide60.xml.rels><?xml version="1.0" encoding="UTF-8" standalone="yes"?>
<Relationships xmlns="http://schemas.openxmlformats.org/package/2006/relationships"><Relationship Id="rId3" Type="http://schemas.openxmlformats.org/officeDocument/2006/relationships/image" Target="../media/l10_total.png"/><Relationship Id="rId1" Type="http://schemas.openxmlformats.org/officeDocument/2006/relationships/slideLayout" Target="../slideLayouts/slideLayout7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9966"/>
              </a:solidFill>
              <a:latin typeface="a아띠" panose="02020600000000000000" pitchFamily="18" charset="-127"/>
              <a:ea typeface="a아띠" panose="02020600000000000000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5000" y="666750"/>
            <a:ext cx="7239000" cy="1047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en-US" altLang="ko-KR" sz="5400" b="1">
                <a:solidFill>
                  <a:srgbClr val="FF0066"/>
                </a:solidFill>
                <a:latin typeface="a아띠"/>
                <a:ea typeface="맑은 고딕"/>
              </a:rPr>
              <a:t>Lesson 10-2</a:t>
            </a:r>
            <a:endParaRPr lang="ko-KR" sz="5400"/>
          </a:p>
        </p:txBody>
      </p:sp>
      <p:sp>
        <p:nvSpPr>
          <p:cNvPr id="9" name="직사각형 8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ko-KR" altLang="en-US" sz="1400" b="1" dirty="0">
              <a:latin typeface="a아띠" panose="02020600000000000000" pitchFamily="18" charset="-127"/>
              <a:ea typeface="a아띠" panose="02020600000000000000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38375" y="1809750"/>
            <a:ext cx="9763125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400" dirty="0">
                <a:latin typeface="KG Red Hands" panose="02000505000000020004" pitchFamily="2" charset="0"/>
                <a:ea typeface="맑은 고딕" panose="02020600000000000000" pitchFamily="18" charset="-127"/>
              </a:rPr>
              <a:t>How Much Are These Socks?</a:t>
            </a:r>
            <a:endParaRPr lang="ko-KR" sz="4400"/>
          </a:p>
        </p:txBody>
      </p:sp>
      <p:sp>
        <p:nvSpPr>
          <p:cNvPr id="11" name="직사각형 10"/>
          <p:cNvSpPr/>
          <p:nvPr/>
        </p:nvSpPr>
        <p:spPr>
          <a:xfrm>
            <a:off x="0" y="1399"/>
            <a:ext cx="12192000" cy="2603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ko-KR" altLang="en-US" sz="1400" b="1" dirty="0">
              <a:solidFill>
                <a:srgbClr val="9933FF"/>
              </a:solidFill>
              <a:latin typeface="a아띠" panose="02020600000000000000" pitchFamily="18" charset="-127"/>
              <a:ea typeface="a아띠" panose="02020600000000000000" pitchFamily="18" charset="-127"/>
            </a:endParaRPr>
          </a:p>
        </p:txBody>
      </p:sp>
      <p:pic>
        <p:nvPicPr>
          <p:cNvPr id="12" name="그림 11" descr="Lesson 10: cover">
            <a:extLst>
              <a:ext uri="{FF2B5EF4-FFF2-40B4-BE49-F238E27FC236}">
                <a16:creationId xmlns:a16="http://schemas.microsoft.com/office/drawing/2014/main" id="{9554912B-36BE-4A60-BA5F-5FF7B66A3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000" y="3013808"/>
            <a:ext cx="4400000" cy="32592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23439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200" b="1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Key Sentences</a:t>
            </a:r>
            <a:endParaRPr lang="ko-KR" sz="7200"/>
          </a:p>
        </p:txBody>
      </p:sp>
    </p:spTree>
    <p:extLst>
      <p:ext uri="{BB962C8B-B14F-4D97-AF65-F5344CB8AC3E}">
        <p14:creationId xmlns:p14="http://schemas.microsoft.com/office/powerpoint/2010/main" val="313974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sson 10: socks">
            <a:extLst>
              <a:ext uri="{FF2B5EF4-FFF2-40B4-BE49-F238E27FC236}">
                <a16:creationId xmlns:a16="http://schemas.microsoft.com/office/drawing/2014/main" id="{D776654D-3763-49CA-8EE3-5DC1EDAF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50551" y="4368989"/>
            <a:ext cx="2063397" cy="2063397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9966"/>
              </a:solidFill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1078" y="797778"/>
            <a:ext cx="93515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200" dirty="0">
                <a:solidFill>
                  <a:srgbClr val="990033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물건 값을 묻고 답해요</a:t>
            </a:r>
            <a:endParaRPr lang="ko-KR" sz="4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6A059-6098-4710-9135-90FE29FC2508}"/>
              </a:ext>
            </a:extLst>
          </p:cNvPr>
          <p:cNvSpPr txBox="1"/>
          <p:nvPr/>
        </p:nvSpPr>
        <p:spPr>
          <a:xfrm>
            <a:off x="1381125" y="1905000"/>
            <a:ext cx="93821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How much are these socks?</a:t>
            </a:r>
            <a:endParaRPr lang="ko-KR" sz="3400"/>
          </a:p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이 양말은 얼마인가요?</a:t>
            </a:r>
            <a:endParaRPr lang="ko-KR" sz="3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FD2D0-2CA0-403B-B2D3-A62828DC024C}"/>
              </a:ext>
            </a:extLst>
          </p:cNvPr>
          <p:cNvSpPr txBox="1"/>
          <p:nvPr/>
        </p:nvSpPr>
        <p:spPr>
          <a:xfrm>
            <a:off x="1476375" y="4095750"/>
            <a:ext cx="7286625" cy="21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They’re two thousand won.</a:t>
            </a:r>
            <a:endParaRPr lang="ko-KR" sz="3300"/>
          </a:p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2,000원이에요.</a:t>
            </a:r>
            <a:endParaRPr lang="ko-KR" sz="3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4D8236-BFFB-44E2-95C7-77A09FEEA072}"/>
              </a:ext>
            </a:extLst>
          </p:cNvPr>
          <p:cNvSpPr/>
          <p:nvPr/>
        </p:nvSpPr>
        <p:spPr>
          <a:xfrm>
            <a:off x="2619375" y="3552825"/>
            <a:ext cx="7620000" cy="504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How much + is this / are these ~?</a:t>
            </a:r>
            <a:endParaRPr lang="ko-KR" sz="2400"/>
          </a:p>
        </p:txBody>
      </p:sp>
    </p:spTree>
    <p:extLst>
      <p:ext uri="{BB962C8B-B14F-4D97-AF65-F5344CB8AC3E}">
        <p14:creationId xmlns:p14="http://schemas.microsoft.com/office/powerpoint/2010/main" val="949668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_____ much are these socks?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How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much are these socks?</a:t>
            </a:r>
            <a:endParaRPr lang="ko-KR" sz="4800"/>
          </a:p>
        </p:txBody>
      </p:sp>
      <p:pic>
        <p:nvPicPr>
          <p:cNvPr id="1026" name="Picture 2" descr="Lesson 10: soc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569" y="489194"/>
            <a:ext cx="4450862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23439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Bonus Words</a:t>
            </a:r>
            <a:endParaRPr lang="ko-KR" sz="8000"/>
          </a:p>
        </p:txBody>
      </p:sp>
    </p:spTree>
    <p:extLst>
      <p:ext uri="{BB962C8B-B14F-4D97-AF65-F5344CB8AC3E}">
        <p14:creationId xmlns:p14="http://schemas.microsoft.com/office/powerpoint/2010/main" val="3139741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23439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More Words</a:t>
            </a:r>
            <a:endParaRPr lang="ko-KR" sz="8000"/>
          </a:p>
        </p:txBody>
      </p:sp>
    </p:spTree>
    <p:extLst>
      <p:ext uri="{BB962C8B-B14F-4D97-AF65-F5344CB8AC3E}">
        <p14:creationId xmlns:p14="http://schemas.microsoft.com/office/powerpoint/2010/main" val="3139741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492896"/>
            <a:ext cx="9144000" cy="1323439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Look &amp; Say</a:t>
            </a:r>
            <a:endParaRPr lang="ko-KR" sz="8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F342D-7DFC-4108-AB2E-30575B28B261}"/>
              </a:ext>
            </a:extLst>
          </p:cNvPr>
          <p:cNvSpPr txBox="1"/>
          <p:nvPr/>
        </p:nvSpPr>
        <p:spPr>
          <a:xfrm>
            <a:off x="5238750" y="4143375"/>
            <a:ext cx="619125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Your turn! · pp. 146–147</a:t>
            </a:r>
            <a:endParaRPr lang="ko-KR" sz="2800"/>
          </a:p>
        </p:txBody>
      </p:sp>
    </p:spTree>
    <p:extLst>
      <p:ext uri="{BB962C8B-B14F-4D97-AF65-F5344CB8AC3E}">
        <p14:creationId xmlns:p14="http://schemas.microsoft.com/office/powerpoint/2010/main" val="2756252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sson 10: cap">
            <a:extLst>
              <a:ext uri="{FF2B5EF4-FFF2-40B4-BE49-F238E27FC236}">
                <a16:creationId xmlns:a16="http://schemas.microsoft.com/office/drawing/2014/main" id="{D776654D-3763-49CA-8EE3-5DC1EDAF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50551" y="4368989"/>
            <a:ext cx="2063397" cy="2063397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9966"/>
              </a:solidFill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1078" y="797778"/>
            <a:ext cx="93515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200" dirty="0">
                <a:solidFill>
                  <a:srgbClr val="990033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한 개의 물건을 말해요</a:t>
            </a:r>
            <a:endParaRPr lang="ko-KR" sz="4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6A059-6098-4710-9135-90FE29FC2508}"/>
              </a:ext>
            </a:extLst>
          </p:cNvPr>
          <p:cNvSpPr txBox="1"/>
          <p:nvPr/>
        </p:nvSpPr>
        <p:spPr>
          <a:xfrm>
            <a:off x="1381125" y="1905000"/>
            <a:ext cx="93821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How much is this cap?</a:t>
            </a:r>
            <a:endParaRPr lang="ko-KR" sz="3400"/>
          </a:p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이 모자는 얼마인가요?</a:t>
            </a:r>
            <a:endParaRPr lang="ko-KR" sz="3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FD2D0-2CA0-403B-B2D3-A62828DC024C}"/>
              </a:ext>
            </a:extLst>
          </p:cNvPr>
          <p:cNvSpPr txBox="1"/>
          <p:nvPr/>
        </p:nvSpPr>
        <p:spPr>
          <a:xfrm>
            <a:off x="1476375" y="4095750"/>
            <a:ext cx="7286625" cy="21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It’s five thousand won.</a:t>
            </a:r>
            <a:endParaRPr lang="ko-KR" sz="3300"/>
          </a:p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5,000원이에요.</a:t>
            </a:r>
            <a:endParaRPr lang="ko-KR" sz="3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4D8236-BFFB-44E2-95C7-77A09FEEA072}"/>
              </a:ext>
            </a:extLst>
          </p:cNvPr>
          <p:cNvSpPr/>
          <p:nvPr/>
        </p:nvSpPr>
        <p:spPr>
          <a:xfrm>
            <a:off x="2619375" y="3552825"/>
            <a:ext cx="7620000" cy="504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한 개: this + is → It’s</a:t>
            </a:r>
            <a:endParaRPr lang="ko-KR" sz="2400"/>
          </a:p>
        </p:txBody>
      </p:sp>
    </p:spTree>
    <p:extLst>
      <p:ext uri="{BB962C8B-B14F-4D97-AF65-F5344CB8AC3E}">
        <p14:creationId xmlns:p14="http://schemas.microsoft.com/office/powerpoint/2010/main" val="9496680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sson 10: shoes">
            <a:extLst>
              <a:ext uri="{FF2B5EF4-FFF2-40B4-BE49-F238E27FC236}">
                <a16:creationId xmlns:a16="http://schemas.microsoft.com/office/drawing/2014/main" id="{D776654D-3763-49CA-8EE3-5DC1EDAF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50551" y="4368989"/>
            <a:ext cx="2063397" cy="2063397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9966"/>
              </a:solidFill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1078" y="797778"/>
            <a:ext cx="93515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200" dirty="0">
                <a:solidFill>
                  <a:srgbClr val="990033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여러 개·한 쌍을 말해요</a:t>
            </a:r>
            <a:endParaRPr lang="ko-KR" sz="4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6A059-6098-4710-9135-90FE29FC2508}"/>
              </a:ext>
            </a:extLst>
          </p:cNvPr>
          <p:cNvSpPr txBox="1"/>
          <p:nvPr/>
        </p:nvSpPr>
        <p:spPr>
          <a:xfrm>
            <a:off x="1381125" y="1905000"/>
            <a:ext cx="93821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How much are these shoes?</a:t>
            </a:r>
            <a:endParaRPr lang="ko-KR" sz="3400"/>
          </a:p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이 신발은 얼마인가요?</a:t>
            </a:r>
            <a:endParaRPr lang="ko-KR" sz="3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FD2D0-2CA0-403B-B2D3-A62828DC024C}"/>
              </a:ext>
            </a:extLst>
          </p:cNvPr>
          <p:cNvSpPr txBox="1"/>
          <p:nvPr/>
        </p:nvSpPr>
        <p:spPr>
          <a:xfrm>
            <a:off x="1476375" y="4095750"/>
            <a:ext cx="7286625" cy="21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They’re thirty thousand won.</a:t>
            </a:r>
            <a:endParaRPr lang="ko-KR" sz="3300"/>
          </a:p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30,000원이에요.</a:t>
            </a:r>
            <a:endParaRPr lang="ko-KR" sz="3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4D8236-BFFB-44E2-95C7-77A09FEEA072}"/>
              </a:ext>
            </a:extLst>
          </p:cNvPr>
          <p:cNvSpPr/>
          <p:nvPr/>
        </p:nvSpPr>
        <p:spPr>
          <a:xfrm>
            <a:off x="2619375" y="3552825"/>
            <a:ext cx="7620000" cy="504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여러 개·한 쌍: these + are → They’re</a:t>
            </a:r>
            <a:endParaRPr lang="ko-KR" sz="2400"/>
          </a:p>
        </p:txBody>
      </p:sp>
    </p:spTree>
    <p:extLst>
      <p:ext uri="{BB962C8B-B14F-4D97-AF65-F5344CB8AC3E}">
        <p14:creationId xmlns:p14="http://schemas.microsoft.com/office/powerpoint/2010/main" val="949668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sson 10: size">
            <a:extLst>
              <a:ext uri="{FF2B5EF4-FFF2-40B4-BE49-F238E27FC236}">
                <a16:creationId xmlns:a16="http://schemas.microsoft.com/office/drawing/2014/main" id="{D776654D-3763-49CA-8EE3-5DC1EDAF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86875" y="4819346"/>
            <a:ext cx="2390750" cy="1162683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9966"/>
              </a:solidFill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1078" y="797778"/>
            <a:ext cx="93515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200" dirty="0">
                <a:solidFill>
                  <a:srgbClr val="990033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원하는 크기를 골라요</a:t>
            </a:r>
            <a:endParaRPr lang="ko-KR" sz="4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6A059-6098-4710-9135-90FE29FC2508}"/>
              </a:ext>
            </a:extLst>
          </p:cNvPr>
          <p:cNvSpPr txBox="1"/>
          <p:nvPr/>
        </p:nvSpPr>
        <p:spPr>
          <a:xfrm>
            <a:off x="1381125" y="1905000"/>
            <a:ext cx="93821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What size do you want?</a:t>
            </a:r>
            <a:endParaRPr lang="ko-KR" sz="3400"/>
          </a:p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어떤 크기를 원하나요?</a:t>
            </a:r>
            <a:endParaRPr lang="ko-KR" sz="3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FD2D0-2CA0-403B-B2D3-A62828DC024C}"/>
              </a:ext>
            </a:extLst>
          </p:cNvPr>
          <p:cNvSpPr txBox="1"/>
          <p:nvPr/>
        </p:nvSpPr>
        <p:spPr>
          <a:xfrm>
            <a:off x="1476375" y="4095750"/>
            <a:ext cx="7286625" cy="21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Large, please.</a:t>
            </a:r>
            <a:endParaRPr lang="ko-KR" sz="3300"/>
          </a:p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큰 사이즈로 주세요.</a:t>
            </a:r>
            <a:endParaRPr lang="ko-KR" sz="3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4D8236-BFFB-44E2-95C7-77A09FEEA072}"/>
              </a:ext>
            </a:extLst>
          </p:cNvPr>
          <p:cNvSpPr/>
          <p:nvPr/>
        </p:nvSpPr>
        <p:spPr>
          <a:xfrm>
            <a:off x="2619375" y="3552825"/>
            <a:ext cx="7620000" cy="504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small / medium / large</a:t>
            </a:r>
            <a:endParaRPr lang="ko-KR" sz="2400"/>
          </a:p>
        </p:txBody>
      </p:sp>
    </p:spTree>
    <p:extLst>
      <p:ext uri="{BB962C8B-B14F-4D97-AF65-F5344CB8AC3E}">
        <p14:creationId xmlns:p14="http://schemas.microsoft.com/office/powerpoint/2010/main" val="9496680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sson 10: color">
            <a:extLst>
              <a:ext uri="{FF2B5EF4-FFF2-40B4-BE49-F238E27FC236}">
                <a16:creationId xmlns:a16="http://schemas.microsoft.com/office/drawing/2014/main" id="{D776654D-3763-49CA-8EE3-5DC1EDAF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50551" y="4368989"/>
            <a:ext cx="2063397" cy="2063397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9966"/>
              </a:solidFill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1078" y="797778"/>
            <a:ext cx="93515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200" dirty="0">
                <a:solidFill>
                  <a:srgbClr val="990033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원하는 색깔을 골라요</a:t>
            </a:r>
            <a:endParaRPr lang="ko-KR" sz="4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6A059-6098-4710-9135-90FE29FC2508}"/>
              </a:ext>
            </a:extLst>
          </p:cNvPr>
          <p:cNvSpPr txBox="1"/>
          <p:nvPr/>
        </p:nvSpPr>
        <p:spPr>
          <a:xfrm>
            <a:off x="1381125" y="1905000"/>
            <a:ext cx="93821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What color do you want?</a:t>
            </a:r>
            <a:endParaRPr lang="ko-KR" sz="3400"/>
          </a:p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어떤 색깔을 원하나요?</a:t>
            </a:r>
            <a:endParaRPr lang="ko-KR" sz="3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FD2D0-2CA0-403B-B2D3-A62828DC024C}"/>
              </a:ext>
            </a:extLst>
          </p:cNvPr>
          <p:cNvSpPr txBox="1"/>
          <p:nvPr/>
        </p:nvSpPr>
        <p:spPr>
          <a:xfrm>
            <a:off x="1476375" y="4095750"/>
            <a:ext cx="7286625" cy="21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I want blue ones, please.</a:t>
            </a:r>
            <a:endParaRPr lang="ko-KR" sz="3300"/>
          </a:p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파란색으로 주세요.</a:t>
            </a:r>
            <a:endParaRPr lang="ko-KR" sz="3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4D8236-BFFB-44E2-95C7-77A09FEEA072}"/>
              </a:ext>
            </a:extLst>
          </p:cNvPr>
          <p:cNvSpPr/>
          <p:nvPr/>
        </p:nvSpPr>
        <p:spPr>
          <a:xfrm>
            <a:off x="2619375" y="3552825"/>
            <a:ext cx="7620000" cy="504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red / blue / black</a:t>
            </a:r>
            <a:endParaRPr lang="ko-KR" sz="2400"/>
          </a:p>
        </p:txBody>
      </p:sp>
    </p:spTree>
    <p:extLst>
      <p:ext uri="{BB962C8B-B14F-4D97-AF65-F5344CB8AC3E}">
        <p14:creationId xmlns:p14="http://schemas.microsoft.com/office/powerpoint/2010/main" val="949668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sson 10: won">
            <a:extLst>
              <a:ext uri="{FF2B5EF4-FFF2-40B4-BE49-F238E27FC236}">
                <a16:creationId xmlns:a16="http://schemas.microsoft.com/office/drawing/2014/main" id="{D776654D-3763-49CA-8EE3-5DC1EDAF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86875" y="4420037"/>
            <a:ext cx="2390750" cy="1961300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9966"/>
              </a:solidFill>
              <a:latin typeface="1훈나무그늘 M" panose="02020603020101020101" pitchFamily="18" charset="-127"/>
              <a:ea typeface="1훈나무그늘 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1078" y="797778"/>
            <a:ext cx="93515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200" dirty="0">
                <a:solidFill>
                  <a:srgbClr val="990033"/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큰 수를 읽어요</a:t>
            </a:r>
            <a:endParaRPr lang="ko-KR" sz="4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6A059-6098-4710-9135-90FE29FC2508}"/>
              </a:ext>
            </a:extLst>
          </p:cNvPr>
          <p:cNvSpPr txBox="1"/>
          <p:nvPr/>
        </p:nvSpPr>
        <p:spPr>
          <a:xfrm>
            <a:off x="1381125" y="1905000"/>
            <a:ext cx="93821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1,000 = one thousand</a:t>
            </a:r>
            <a:endParaRPr lang="ko-KR" sz="3400"/>
          </a:p>
          <a:p>
            <a:r>
              <a:rPr lang="en-US" altLang="ko-KR" sz="3400" b="0">
                <a:solidFill>
                  <a:srgbClr val="000000"/>
                </a:solidFill>
                <a:latin typeface="KG Red Hands"/>
                <a:ea typeface="맑은 고딕"/>
              </a:rPr>
              <a:t>10,000 = ten thousand</a:t>
            </a:r>
            <a:endParaRPr lang="ko-KR" sz="3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FD2D0-2CA0-403B-B2D3-A62828DC024C}"/>
              </a:ext>
            </a:extLst>
          </p:cNvPr>
          <p:cNvSpPr txBox="1"/>
          <p:nvPr/>
        </p:nvSpPr>
        <p:spPr>
          <a:xfrm>
            <a:off x="1476375" y="4095750"/>
            <a:ext cx="7286625" cy="214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twenty thousand won</a:t>
            </a:r>
            <a:endParaRPr lang="ko-KR" sz="3300"/>
          </a:p>
          <a:p>
            <a:r>
              <a:rPr lang="en-US" altLang="ko-KR" sz="3300" b="0">
                <a:solidFill>
                  <a:srgbClr val="000000"/>
                </a:solidFill>
                <a:latin typeface="KG Red Hands"/>
                <a:ea typeface="맑은 고딕"/>
              </a:rPr>
              <a:t>won에는 -s를 붙이지 않아요.</a:t>
            </a:r>
            <a:endParaRPr lang="ko-KR" sz="3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4D8236-BFFB-44E2-95C7-77A09FEEA072}"/>
              </a:ext>
            </a:extLst>
          </p:cNvPr>
          <p:cNvSpPr/>
          <p:nvPr/>
        </p:nvSpPr>
        <p:spPr>
          <a:xfrm>
            <a:off x="2619375" y="3552825"/>
            <a:ext cx="7620000" cy="504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아띠" panose="02020600000000000000" pitchFamily="18" charset="-127"/>
                <a:ea typeface="맑은 고딕" panose="02020600000000000000" pitchFamily="18" charset="-127"/>
              </a:rPr>
              <a:t>12,500 = twelve thousand five hundred</a:t>
            </a:r>
            <a:endParaRPr lang="ko-KR" sz="2400"/>
          </a:p>
        </p:txBody>
      </p:sp>
    </p:spTree>
    <p:extLst>
      <p:ext uri="{BB962C8B-B14F-4D97-AF65-F5344CB8AC3E}">
        <p14:creationId xmlns:p14="http://schemas.microsoft.com/office/powerpoint/2010/main" val="9496680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How much are these ______?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How much are these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gloves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?</a:t>
            </a:r>
            <a:endParaRPr lang="ko-KR" sz="4800"/>
          </a:p>
        </p:txBody>
      </p:sp>
      <p:pic>
        <p:nvPicPr>
          <p:cNvPr id="1026" name="Picture 2" descr="Lesson 10: glov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569" y="489194"/>
            <a:ext cx="4450862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How much are these __________?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How much are these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sunglasses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?</a:t>
            </a:r>
            <a:endParaRPr lang="ko-KR" sz="4800"/>
          </a:p>
        </p:txBody>
      </p:sp>
      <p:pic>
        <p:nvPicPr>
          <p:cNvPr id="1026" name="Picture 2" descr="Lesson 10: sunglass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6000" y="909888"/>
            <a:ext cx="6299999" cy="360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How much ___ these pants?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How much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are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these pants?</a:t>
            </a:r>
            <a:endParaRPr lang="ko-KR" sz="4800"/>
          </a:p>
        </p:txBody>
      </p:sp>
      <p:pic>
        <p:nvPicPr>
          <p:cNvPr id="1026" name="Picture 2" descr="Lesson 10: pa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98000" y="489194"/>
            <a:ext cx="3595999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How much __ this cap?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How much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is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this cap?</a:t>
            </a:r>
            <a:endParaRPr lang="ko-KR" sz="4800"/>
          </a:p>
        </p:txBody>
      </p:sp>
      <p:pic>
        <p:nvPicPr>
          <p:cNvPr id="1026" name="Picture 2" descr="Lesson 10: ca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569" y="489194"/>
            <a:ext cx="4450862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How much is this _______?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How much is this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T-shirt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?</a:t>
            </a:r>
            <a:endParaRPr lang="ko-KR" sz="4800"/>
          </a:p>
        </p:txBody>
      </p:sp>
      <p:pic>
        <p:nvPicPr>
          <p:cNvPr id="1026" name="Picture 2" descr="Lesson 10: tshi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569" y="489194"/>
            <a:ext cx="4450862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They’re two ________ won.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They’re two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thousand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won.</a:t>
            </a:r>
            <a:endParaRPr lang="ko-KR" sz="4800"/>
          </a:p>
        </p:txBody>
      </p:sp>
      <p:pic>
        <p:nvPicPr>
          <p:cNvPr id="1026" name="Picture 2" descr="Lesson 10: w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3285" y="489194"/>
            <a:ext cx="5425429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_______ thirty thousand won.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They’re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thirty thousand won.</a:t>
            </a:r>
            <a:endParaRPr lang="ko-KR" sz="4800"/>
          </a:p>
        </p:txBody>
      </p:sp>
      <p:pic>
        <p:nvPicPr>
          <p:cNvPr id="1026" name="Picture 2" descr="Lesson 10: sho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569" y="489194"/>
            <a:ext cx="4450862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What ____ do you want?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What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size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do you want?</a:t>
            </a:r>
            <a:endParaRPr lang="ko-KR" sz="4800"/>
          </a:p>
        </p:txBody>
      </p:sp>
      <p:pic>
        <p:nvPicPr>
          <p:cNvPr id="1026" name="Picture 2" descr="Lesson 10: si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6000" y="1182699"/>
            <a:ext cx="6300000" cy="306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_____, please.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Large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, please.</a:t>
            </a:r>
            <a:endParaRPr lang="ko-KR" sz="4800"/>
          </a:p>
        </p:txBody>
      </p:sp>
      <p:pic>
        <p:nvPicPr>
          <p:cNvPr id="1026" name="Picture 2" descr="Lesson 10: lar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98746" y="489194"/>
            <a:ext cx="5394507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These sunglasses are _____.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These sunglasses are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cheap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.</a:t>
            </a:r>
            <a:endParaRPr lang="ko-KR" sz="4800"/>
          </a:p>
        </p:txBody>
      </p:sp>
      <p:pic>
        <p:nvPicPr>
          <p:cNvPr id="1026" name="Picture 2" descr="Lesson 10: chea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6000" y="508789"/>
            <a:ext cx="6300000" cy="4411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These shoes are _________.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These shoes are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expensive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.</a:t>
            </a:r>
            <a:endParaRPr lang="ko-KR" sz="4800"/>
          </a:p>
        </p:txBody>
      </p:sp>
      <p:pic>
        <p:nvPicPr>
          <p:cNvPr id="1026" name="Picture 2" descr="Lesson 10: expensi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6302" y="489194"/>
            <a:ext cx="5759396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What is the _____?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What is the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price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?</a:t>
            </a:r>
            <a:endParaRPr lang="ko-KR" sz="4800"/>
          </a:p>
        </p:txBody>
      </p:sp>
      <p:pic>
        <p:nvPicPr>
          <p:cNvPr id="1026" name="Picture 2" descr="Lesson 10: pr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8002" y="489194"/>
            <a:ext cx="5415996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I want to ___ these socks.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I want to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buy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these socks.</a:t>
            </a:r>
            <a:endParaRPr lang="ko-KR" sz="4800"/>
          </a:p>
        </p:txBody>
      </p:sp>
      <p:pic>
        <p:nvPicPr>
          <p:cNvPr id="1026" name="Picture 2" descr="Lesson 10: bu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2060" y="489194"/>
            <a:ext cx="5427880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They ____ T-shirts here.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They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sell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T-shirts here.</a:t>
            </a:r>
            <a:endParaRPr lang="ko-KR" sz="4800"/>
          </a:p>
        </p:txBody>
      </p:sp>
      <p:pic>
        <p:nvPicPr>
          <p:cNvPr id="1026" name="Picture 2" descr="Lesson 10: se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9606" y="489194"/>
            <a:ext cx="4972787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This T-shirt is too _____.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This T-shirt is too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small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.</a:t>
            </a:r>
            <a:endParaRPr lang="ko-KR" sz="4800"/>
          </a:p>
        </p:txBody>
      </p:sp>
      <p:pic>
        <p:nvPicPr>
          <p:cNvPr id="1026" name="Picture 2" descr="Lesson 10: 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60865" y="489194"/>
            <a:ext cx="4470269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What _____ do you want?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What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color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do you want?</a:t>
            </a:r>
            <a:endParaRPr lang="ko-KR" sz="4800"/>
          </a:p>
        </p:txBody>
      </p:sp>
      <p:pic>
        <p:nvPicPr>
          <p:cNvPr id="1026" name="Picture 2" descr="Lesson 10: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569" y="489194"/>
            <a:ext cx="4450862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These gloves are __ ____.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These gloves are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on sale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.</a:t>
            </a:r>
            <a:endParaRPr lang="ko-KR" sz="4800"/>
          </a:p>
        </p:txBody>
      </p:sp>
      <p:pic>
        <p:nvPicPr>
          <p:cNvPr id="1026" name="Picture 2" descr="Lesson 10: sa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45428" y="489194"/>
            <a:ext cx="4901143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Here is your _______.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Here is your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receipt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.</a:t>
            </a:r>
            <a:endParaRPr lang="ko-KR" sz="4800"/>
          </a:p>
        </p:txBody>
      </p:sp>
      <p:pic>
        <p:nvPicPr>
          <p:cNvPr id="1026" name="Picture 2" descr="Lesson 10: receip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569" y="489194"/>
            <a:ext cx="4450862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Here is your ______.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Here is your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change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.</a:t>
            </a:r>
            <a:endParaRPr lang="ko-KR" sz="4800"/>
          </a:p>
        </p:txBody>
      </p:sp>
      <p:pic>
        <p:nvPicPr>
          <p:cNvPr id="1026" name="Picture 2" descr="Lesson 10: chan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6000" y="613000"/>
            <a:ext cx="6300000" cy="420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E639E-839B-4ED1-B926-3A476A54F0D0}"/>
              </a:ext>
            </a:extLst>
          </p:cNvPr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KG Red Hands" panose="02000505000000020004" pitchFamily="2" charset="0"/>
                <a:ea typeface="맑은 고딕"/>
              </a:rPr>
              <a:t>The _____ is ten thousand won.</a:t>
            </a:r>
            <a:endParaRPr lang="ko-KR" sz="4800"/>
          </a:p>
        </p:txBody>
      </p:sp>
      <p:sp>
        <p:nvSpPr>
          <p:cNvPr id="11" name="TextBox 10"/>
          <p:cNvSpPr txBox="1"/>
          <p:nvPr/>
        </p:nvSpPr>
        <p:spPr>
          <a:xfrm>
            <a:off x="762000" y="5238750"/>
            <a:ext cx="10668000" cy="876300"/>
          </a:xfrm>
          <a:prstGeom prst="rect">
            <a:avLst/>
          </a:prstGeom>
          <a:solidFill>
            <a:srgbClr val="F9B5C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The </a:t>
            </a:r>
            <a:r>
              <a:rPr lang="en-US" altLang="ko-KR" sz="4800" b="0">
                <a:solidFill>
                  <a:srgbClr val="FF0066"/>
                </a:solidFill>
                <a:latin typeface="KG Red Hands"/>
                <a:ea typeface="맑은 고딕"/>
              </a:rPr>
              <a:t xml:space="preserve">total</a:t>
            </a:r>
            <a:r>
              <a:rPr lang="en-US" altLang="ko-KR" sz="4800" b="0">
                <a:solidFill>
                  <a:srgbClr val="262626"/>
                </a:solidFill>
                <a:latin typeface="KG Red Hands"/>
                <a:ea typeface="맑은 고딕"/>
              </a:rPr>
              <a:t xml:space="preserve"> is ten thousand won.</a:t>
            </a:r>
            <a:endParaRPr lang="ko-KR" sz="4800"/>
          </a:p>
        </p:txBody>
      </p:sp>
      <p:pic>
        <p:nvPicPr>
          <p:cNvPr id="1026" name="Picture 2" descr="Lesson 10: tot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0569" y="489194"/>
            <a:ext cx="4450862" cy="445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2303</Words>
  <Application>Microsoft Office PowerPoint</Application>
  <PresentationFormat>와이드스크린</PresentationFormat>
  <Paragraphs>250</Paragraphs>
  <Slides>35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1훈나무그늘 M</vt:lpstr>
      <vt:lpstr>a아띠</vt:lpstr>
      <vt:lpstr>KG Red Hands</vt:lpstr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sec</dc:creator>
  <cp:lastModifiedBy>상은 이</cp:lastModifiedBy>
  <cp:revision>486</cp:revision>
  <dcterms:created xsi:type="dcterms:W3CDTF">2011-03-26T02:20:54Z</dcterms:created>
  <dcterms:modified xsi:type="dcterms:W3CDTF">2026-09-30T03:26:59Z</dcterms:modified>
  <cp:version/>
</cp:coreProperties>
</file>